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F6-467C-A7FB-D857E21E5E0B}"/>
              </c:ext>
            </c:extLst>
          </c:dPt>
          <c:dPt>
            <c:idx val="1"/>
            <c:invertIfNegative val="0"/>
            <c:bubble3D val="0"/>
            <c:spPr>
              <a:solidFill>
                <a:srgbClr val="149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F6-467C-A7FB-D857E21E5E0B}"/>
              </c:ext>
            </c:extLst>
          </c:dPt>
          <c:dPt>
            <c:idx val="2"/>
            <c:invertIfNegative val="0"/>
            <c:bubble3D val="0"/>
            <c:spPr>
              <a:solidFill>
                <a:srgbClr val="A3D9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F6-467C-A7FB-D857E21E5E0B}"/>
              </c:ext>
            </c:extLst>
          </c:dPt>
          <c:dPt>
            <c:idx val="3"/>
            <c:invertIfNegative val="0"/>
            <c:bubble3D val="0"/>
            <c:spPr>
              <a:solidFill>
                <a:srgbClr val="B8C0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3F6-467C-A7FB-D857E21E5E0B}"/>
              </c:ext>
            </c:extLst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3F6-467C-A7FB-D857E21E5E0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organic</c:v>
                </c:pt>
                <c:pt idx="1">
                  <c:v>email</c:v>
                </c:pt>
                <c:pt idx="2">
                  <c:v>search</c:v>
                </c:pt>
                <c:pt idx="3">
                  <c:v>referral</c:v>
                </c:pt>
                <c:pt idx="4">
                  <c:v>paid_social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13.54</c:v>
                </c:pt>
                <c:pt idx="1">
                  <c:v>5.36</c:v>
                </c:pt>
                <c:pt idx="2">
                  <c:v>1.37</c:v>
                </c:pt>
                <c:pt idx="3">
                  <c:v>1.33</c:v>
                </c:pt>
                <c:pt idx="4">
                  <c:v>0.69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3F6-467C-A7FB-D857E21E5E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109-4746-899F-A78958E66044}"/>
              </c:ext>
            </c:extLst>
          </c:dPt>
          <c:dPt>
            <c:idx val="1"/>
            <c:invertIfNegative val="0"/>
            <c:bubble3D val="0"/>
            <c:spPr>
              <a:solidFill>
                <a:srgbClr val="E880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109-4746-899F-A78958E66044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109-4746-899F-A78958E66044}"/>
              </c:ext>
            </c:extLst>
          </c:dPt>
          <c:dPt>
            <c:idx val="3"/>
            <c:invertIfNegative val="0"/>
            <c:bubble3D val="0"/>
            <c:spPr>
              <a:solidFill>
                <a:srgbClr val="149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109-4746-899F-A78958E66044}"/>
              </c:ext>
            </c:extLst>
          </c:dPt>
          <c:dPt>
            <c:idx val="4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109-4746-899F-A78958E6604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paid_social</c:v>
                </c:pt>
                <c:pt idx="1">
                  <c:v>search</c:v>
                </c:pt>
                <c:pt idx="2">
                  <c:v>referral</c:v>
                </c:pt>
                <c:pt idx="3">
                  <c:v>email</c:v>
                </c:pt>
                <c:pt idx="4">
                  <c:v>organic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8925</c:v>
                </c:pt>
                <c:pt idx="1">
                  <c:v>5139</c:v>
                </c:pt>
                <c:pt idx="2">
                  <c:v>5103</c:v>
                </c:pt>
                <c:pt idx="3">
                  <c:v>1270</c:v>
                </c:pt>
                <c:pt idx="4">
                  <c:v>479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109-4746-899F-A78958E660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Attribution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search</c:v>
                </c:pt>
                <c:pt idx="1">
                  <c:v>email</c:v>
                </c:pt>
                <c:pt idx="2">
                  <c:v>paid_social</c:v>
                </c:pt>
                <c:pt idx="3">
                  <c:v>referral</c:v>
                </c:pt>
                <c:pt idx="4">
                  <c:v>organic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81.7</c:v>
                </c:pt>
                <c:pt idx="1">
                  <c:v>14.1</c:v>
                </c:pt>
                <c:pt idx="2">
                  <c:v>9.8699999999999992</c:v>
                </c:pt>
                <c:pt idx="3">
                  <c:v>8.9</c:v>
                </c:pt>
                <c:pt idx="4">
                  <c:v>1.43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A-4265-8726-287FEBA88B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Variant A / Current</c:v>
                </c:pt>
              </c:strCache>
            </c:strRef>
          </c:tx>
          <c:spPr>
            <a:solidFill>
              <a:srgbClr val="14919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premium</c:v>
                </c:pt>
                <c:pt idx="1">
                  <c:v>regular</c:v>
                </c:pt>
                <c:pt idx="2">
                  <c:v>value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8.74</c:v>
                </c:pt>
                <c:pt idx="1">
                  <c:v>8.34</c:v>
                </c:pt>
                <c:pt idx="2">
                  <c:v>8.36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A9-45F1-8C55-F4863CDBD7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Incremental Revenue (Rs M)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5C2-4905-B755-264E41BB44BE}"/>
              </c:ext>
            </c:extLst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5C2-4905-B755-264E41BB44BE}"/>
              </c:ext>
            </c:extLst>
          </c:dPt>
          <c:dPt>
            <c:idx val="2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5C2-4905-B755-264E41BB44BE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Worst Case</c:v>
                </c:pt>
                <c:pt idx="1">
                  <c:v>Base Case</c:v>
                </c:pt>
                <c:pt idx="2">
                  <c:v>Best Case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2.58</c:v>
                </c:pt>
                <c:pt idx="1">
                  <c:v>7.12</c:v>
                </c:pt>
                <c:pt idx="2">
                  <c:v>11.67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5C2-4905-B755-264E41BB44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17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14919B">
              <a:alpha val="25000"/>
            </a:srgbClr>
          </a:solidFill>
          <a:ln w="12700">
            <a:solidFill>
              <a:srgbClr val="14919B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ROI &amp;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192237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Reallocation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2465013"/>
            <a:ext cx="2560320" cy="3657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0803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  |  Jul 2025 – Jan 2026  |  5 Channels  |  40 Campaigns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00886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Sarbani Karmakar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50100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660,820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3450100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16,193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443066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109.2M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3436032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Channels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 &amp; KPIs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2336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marketing channels and campaigns drive sustainable, profitable growth and optimally reallocate next month's budget to maximise contribution margin.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926080"/>
            <a:ext cx="4023360" cy="82296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9443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ROAS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/ Marketing Spend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640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Metrics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64008" cy="475488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7448" y="1005840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18888" y="10332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18888" y="12527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/ Eligible Sessions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664208"/>
            <a:ext cx="64008" cy="475488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27448" y="1664208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18888" y="1691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ROAS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19110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/ Marketing Spend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322576"/>
            <a:ext cx="64008" cy="475488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27448" y="2322576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18888" y="23500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ROAS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25694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/ Marketing Spend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980944"/>
            <a:ext cx="64008" cy="475488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27448" y="2980944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18888" y="30083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18888" y="3227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/ Attributed New Orders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639312"/>
            <a:ext cx="64008" cy="475488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27448" y="3639312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18888" y="366674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Session | AOV | Margin per Channel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18888" y="38862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/ Sessions | Revenue / Orders | Contribution Margin by Channel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480560"/>
            <a:ext cx="4069080" cy="502920"/>
          </a:xfrm>
          <a:prstGeom prst="rect">
            <a:avLst/>
          </a:prstGeom>
          <a:solidFill>
            <a:srgbClr val="EAF4F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480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Method: Last-Touch Attribution (session_id join)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00584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Load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25880" y="1051560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raw files: users, sessions, orders, order_items, campaigns, ad_spend, products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673352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73352"/>
            <a:ext cx="1005840" cy="58521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19072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Clean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25880" y="171907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parsing, deduplication on primary keys, missing value fills, case normalisation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340864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40864"/>
            <a:ext cx="100584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86584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Margin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2386584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order_items → products to compute true contribution margin per order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008376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08376"/>
            <a:ext cx="1005840" cy="58521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054096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Fact Sessions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25880" y="3054096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per session, last-touch attribution, user attributes, purchase flag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675888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75888"/>
            <a:ext cx="100584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721608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Campaign Daily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25880" y="3721608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per date × campaign; KPIs: CPC, CTR, CVR, ROAS, CAC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343400"/>
            <a:ext cx="1005840" cy="58521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389120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Channel Daily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25880" y="4389120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per date × channel; adds promo_flag, day_of_week, week_index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5943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005840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005840"/>
            <a:ext cx="100584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051560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06440" y="1051560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Last-touch: each order credited to the channel of the converting session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673352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673352"/>
            <a:ext cx="1005840" cy="58521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719072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06440" y="171907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model - 5 channel spend features + promo_flag + trend + day_of_week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340864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2340864"/>
            <a:ext cx="100584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2386584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06440" y="2386584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time-based split - no data leakage; test R² = 0.61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008376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008376"/>
            <a:ext cx="1005840" cy="58521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054096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06440" y="3054096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 Returning, City Tier, Product Category, Customer Segment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675888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675888"/>
            <a:ext cx="100584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721608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06440" y="3721608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scenario projections (Base/Best/Worst) with diminishing-return adjustments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4343400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4343400"/>
            <a:ext cx="1005840" cy="58521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4389120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Flag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806440" y="4389120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rule: daily revenue &gt; 1.5× 7-day rolling average → flag =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 — ROAS &amp; CAC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1168" y="594360"/>
            <a:ext cx="16002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594360"/>
            <a:ext cx="16002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68580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109.22M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1168" y="1170432"/>
            <a:ext cx="160020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56816" y="594360"/>
            <a:ext cx="16002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56816" y="594360"/>
            <a:ext cx="16002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6816" y="68580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74.36M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56816" y="1170432"/>
            <a:ext cx="160020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12464" y="594360"/>
            <a:ext cx="16002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919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12464" y="594360"/>
            <a:ext cx="1600200" cy="64008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68580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1.47x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12464" y="1170432"/>
            <a:ext cx="160020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ROAS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68112" y="594360"/>
            <a:ext cx="16002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68112" y="594360"/>
            <a:ext cx="160020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68580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16,193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68112" y="1170432"/>
            <a:ext cx="160020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23760" y="594360"/>
            <a:ext cx="16002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23760" y="594360"/>
            <a:ext cx="160020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68580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0.59x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1170432"/>
            <a:ext cx="160020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ROAS ★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ROAS by Channel</a:t>
            </a:r>
            <a:endParaRPr lang="en-US" sz="12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182880" y="2011680"/>
          <a:ext cx="4206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457200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 (Rs) by Channel</a:t>
            </a:r>
            <a:endParaRPr lang="en-US" sz="120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4480560" y="2011680"/>
          <a:ext cx="44805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 — DETAILED VERDICT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ROAS reveals the true picture — Revenue ROAS alone is misleading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828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57400" y="1051560"/>
            <a:ext cx="16459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051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03320" y="1051560"/>
            <a:ext cx="12801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0515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%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83480" y="1051560"/>
            <a:ext cx="1737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51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ROAS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20840" y="1051560"/>
            <a:ext cx="1737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51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ROAS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458200" y="1051560"/>
            <a:ext cx="15544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0515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12680" y="1051560"/>
            <a:ext cx="1828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0" y="1051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1435608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43560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57400" y="1435608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143560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9.58L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03320" y="1435608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43560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143560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43560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13.54x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20840" y="143560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43560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5.15x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458200" y="1435608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143560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479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012680" y="1435608"/>
            <a:ext cx="182880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0" y="143560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UNDERFUNDED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2048256"/>
            <a:ext cx="1828800" cy="530352"/>
          </a:xfrm>
          <a:prstGeom prst="rect">
            <a:avLst/>
          </a:prstGeom>
          <a:solidFill>
            <a:srgbClr val="F5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04825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57400" y="2048256"/>
            <a:ext cx="1645920" cy="530352"/>
          </a:xfrm>
          <a:prstGeom prst="rect">
            <a:avLst/>
          </a:prstGeom>
          <a:solidFill>
            <a:srgbClr val="F5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204825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38.1L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03320" y="2048256"/>
            <a:ext cx="1280160" cy="530352"/>
          </a:xfrm>
          <a:prstGeom prst="rect">
            <a:avLst/>
          </a:prstGeom>
          <a:solidFill>
            <a:srgbClr val="F5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204825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83480" y="2048256"/>
            <a:ext cx="1737360" cy="530352"/>
          </a:xfrm>
          <a:prstGeom prst="rect">
            <a:avLst/>
          </a:prstGeom>
          <a:solidFill>
            <a:srgbClr val="F5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204825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5.36x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20840" y="2048256"/>
            <a:ext cx="1737360" cy="530352"/>
          </a:xfrm>
          <a:prstGeom prst="rect">
            <a:avLst/>
          </a:prstGeom>
          <a:solidFill>
            <a:srgbClr val="F5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204825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2.18x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458200" y="2048256"/>
            <a:ext cx="1554480" cy="530352"/>
          </a:xfrm>
          <a:prstGeom prst="rect">
            <a:avLst/>
          </a:prstGeom>
          <a:solidFill>
            <a:srgbClr val="F5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204825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1,270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012680" y="2048256"/>
            <a:ext cx="182880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0" y="204825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UNDERFUNDED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8600" y="2660904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26609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057400" y="2660904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2660904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66.7L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703320" y="2660904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266090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9.0%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83480" y="2660904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0" y="266090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1.33x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720840" y="2660904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0" y="266090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0.53x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458200" y="2660904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03920" y="266090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5,103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0012680" y="2660904"/>
            <a:ext cx="182880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58400" y="26609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28600" y="3273552"/>
            <a:ext cx="1828800" cy="530352"/>
          </a:xfrm>
          <a:prstGeom prst="rect">
            <a:avLst/>
          </a:prstGeom>
          <a:solidFill>
            <a:srgbClr val="F5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327355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057400" y="3273552"/>
            <a:ext cx="1645920" cy="530352"/>
          </a:xfrm>
          <a:prstGeom prst="rect">
            <a:avLst/>
          </a:prstGeom>
          <a:solidFill>
            <a:srgbClr val="F5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03120" y="327355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343.3L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703320" y="3273552"/>
            <a:ext cx="1280160" cy="530352"/>
          </a:xfrm>
          <a:prstGeom prst="rect">
            <a:avLst/>
          </a:prstGeom>
          <a:solidFill>
            <a:srgbClr val="F5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749040" y="327355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46.2%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983480" y="3273552"/>
            <a:ext cx="1737360" cy="530352"/>
          </a:xfrm>
          <a:prstGeom prst="rect">
            <a:avLst/>
          </a:prstGeom>
          <a:solidFill>
            <a:srgbClr val="F5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0" y="327355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1.37x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720840" y="3273552"/>
            <a:ext cx="1737360" cy="530352"/>
          </a:xfrm>
          <a:prstGeom prst="rect">
            <a:avLst/>
          </a:prstGeom>
          <a:solidFill>
            <a:srgbClr val="F5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66560" y="327355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0.58x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458200" y="3273552"/>
            <a:ext cx="1554480" cy="530352"/>
          </a:xfrm>
          <a:prstGeom prst="rect">
            <a:avLst/>
          </a:prstGeom>
          <a:solidFill>
            <a:srgbClr val="F5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503920" y="327355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5,139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0012680" y="3273552"/>
            <a:ext cx="182880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058400" y="327355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OVER-FUNDED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28600" y="3886200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388620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057400" y="3886200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03120" y="388620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285.9L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703320" y="3886200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49040" y="388620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983480" y="3886200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9200" y="38862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0.69x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720840" y="3886200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66560" y="38862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0.25x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458200" y="3886200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503920" y="388620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8,925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10012680" y="3886200"/>
            <a:ext cx="182880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058400" y="388620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28600" y="4498848"/>
            <a:ext cx="4251960" cy="548640"/>
          </a:xfrm>
          <a:prstGeom prst="rect">
            <a:avLst/>
          </a:prstGeom>
          <a:solidFill>
            <a:srgbClr val="000000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0040" y="44988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+ Email = only 6.4% of budget but Margin ROAS 5.15x and 2.18x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663440" y="4498848"/>
            <a:ext cx="4251960" cy="548640"/>
          </a:xfrm>
          <a:prstGeom prst="rect">
            <a:avLst/>
          </a:prstGeom>
          <a:solidFill>
            <a:srgbClr val="00000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54880" y="44988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= 38.4% of budget at Margin ROAS 0.25x — every Rs 4 returns Rs 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&amp; ATTRIBUTION COMPARISON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9202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94360"/>
            <a:ext cx="192024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192024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115568"/>
            <a:ext cx="1920240" cy="304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41448" y="594360"/>
            <a:ext cx="19202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41448" y="594360"/>
            <a:ext cx="192024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685800"/>
            <a:ext cx="192024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41448" y="1115568"/>
            <a:ext cx="1920240" cy="304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08576" y="594360"/>
            <a:ext cx="19202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594360"/>
            <a:ext cx="192024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685800"/>
            <a:ext cx="192024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8576" y="1115568"/>
            <a:ext cx="1920240" cy="304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 Channels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75704" y="594360"/>
            <a:ext cx="19202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75704" y="594360"/>
            <a:ext cx="192024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5704" y="685800"/>
            <a:ext cx="192024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p=0.024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75704" y="1115568"/>
            <a:ext cx="1920240" cy="304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(only sig.)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Revenue by Channel</a:t>
            </a:r>
            <a:endParaRPr lang="en-US" sz="12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182880" y="1920240"/>
          <a:ext cx="4206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4617720" y="16002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Coefficients (OLS)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17720" y="1920240"/>
            <a:ext cx="4297680" cy="356616"/>
          </a:xfrm>
          <a:prstGeom prst="rect">
            <a:avLst/>
          </a:prstGeom>
          <a:solidFill>
            <a:srgbClr val="00000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492240" y="19385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+1.17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863840" y="19385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p=0.024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17720" y="2313432"/>
            <a:ext cx="42976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49224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+2.35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863840" y="2331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p=0.270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617720" y="2706624"/>
            <a:ext cx="42976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2724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492240" y="27249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+0.55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863840" y="27249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p=0.187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617720" y="3099816"/>
            <a:ext cx="42976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63440" y="31181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492240" y="31181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-4.09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863840" y="31181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p=0.296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617720" y="3493008"/>
            <a:ext cx="42976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663440" y="3511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492240" y="35112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-3.04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7863840" y="351129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p=0.832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617720" y="3886200"/>
            <a:ext cx="4297680" cy="356616"/>
          </a:xfrm>
          <a:prstGeom prst="rect">
            <a:avLst/>
          </a:prstGeom>
          <a:solidFill>
            <a:srgbClr val="00000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63440" y="3904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promo_flag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492240" y="39044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+Rs 142K/day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863840" y="39044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p=&lt;0.01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617720" y="4279392"/>
            <a:ext cx="4297680" cy="356616"/>
          </a:xfrm>
          <a:prstGeom prst="rect">
            <a:avLst/>
          </a:prstGeom>
          <a:solidFill>
            <a:srgbClr val="00000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6344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49224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+Rs 228/day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7863840" y="4297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p=&lt;0.05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617720" y="4663440"/>
            <a:ext cx="4297680" cy="365760"/>
          </a:xfrm>
          <a:prstGeom prst="rect">
            <a:avLst/>
          </a:prstGeom>
          <a:solidFill>
            <a:srgbClr val="D97706">
              <a:alpha val="13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709160" y="46634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= channel efficiency | Regression = portfolio sensitivity. Use attribution for channel ranking, regression for spend elasticity estimation.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 Returning Users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137160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returning users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68880" y="1097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108.78M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68880" y="15727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revenue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0.44M only from new users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697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— Conversion Rates</a:t>
            </a:r>
            <a:endParaRPr lang="en-US" sz="13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182880" y="3063240"/>
          <a:ext cx="42062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4572000" y="6400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— Margin 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0" y="1005840"/>
            <a:ext cx="4297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63440" y="1051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63440" y="1307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2.18 Cr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55080" y="1170432"/>
            <a:ext cx="1645920" cy="256032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34180" y="11704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366760" y="1124712"/>
            <a:ext cx="411480" cy="3383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1124712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572000" y="1673352"/>
            <a:ext cx="4297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663440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663440" y="197510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1.45 Cr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355080" y="1837944"/>
            <a:ext cx="1481328" cy="256032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36408" y="1837944"/>
            <a:ext cx="484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41.6%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366760" y="1792224"/>
            <a:ext cx="411480" cy="3383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66760" y="1792224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4572000" y="2340864"/>
            <a:ext cx="4297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663440" y="23865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663440" y="264261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1.03 Cr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355080" y="2505456"/>
            <a:ext cx="1234440" cy="256032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0" y="25054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366760" y="2459736"/>
            <a:ext cx="411480" cy="338328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66760" y="2459736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4572000" y="3008376"/>
            <a:ext cx="4297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663440" y="30540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663440" y="33101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1.96 Cr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355080" y="3172968"/>
            <a:ext cx="740664" cy="256032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0" y="31729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8366760" y="3127248"/>
            <a:ext cx="411480" cy="338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366760" y="3127248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4572000" y="3675888"/>
            <a:ext cx="4297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4663440" y="3721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663440" y="3977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1.96 Cr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355080" y="3840480"/>
            <a:ext cx="288036" cy="256032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863840" y="38404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38.7%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8366760" y="3794760"/>
            <a:ext cx="411480" cy="338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366760" y="3794760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4572000" y="4343400"/>
            <a:ext cx="4297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4663440" y="4389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4663440" y="46451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2.34 Cr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6355080" y="4507992"/>
            <a:ext cx="288036" cy="256032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63840" y="45079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38.7%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8366760" y="4462272"/>
            <a:ext cx="411480" cy="3383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366760" y="4462272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REALLOCATION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Monthly Budget: Rs 10,622,971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Move budget away from Margin ROAS &lt; 1 channels toward Margin ROAS &gt; 1 channels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15544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0" y="1161288"/>
            <a:ext cx="279806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54326" y="11247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5.1%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0" y="1389888"/>
            <a:ext cx="1097280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3533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0" y="11247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13533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60720" y="1143000"/>
            <a:ext cx="128016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143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0" y="11978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ROAS: 2.18x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783080"/>
            <a:ext cx="15544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7830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0" y="1892808"/>
            <a:ext cx="71323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45843" y="1856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0" y="2121408"/>
            <a:ext cx="43891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13432" y="20848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18562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0848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760720" y="1874520"/>
            <a:ext cx="128016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874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19293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ROAS: 5.15x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2514600"/>
            <a:ext cx="15544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5146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828800" y="2624328"/>
            <a:ext cx="493776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68296" y="25877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0" y="2852928"/>
            <a:ext cx="65836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32888" y="28163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25877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0" y="28163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60720" y="2606040"/>
            <a:ext cx="128016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606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32320" y="26609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ROAS: 0.53x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246120"/>
            <a:ext cx="15544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3246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828800" y="3355848"/>
            <a:ext cx="2534717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09237" y="33192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46.2%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828800" y="3584448"/>
            <a:ext cx="21945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35478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0" y="33192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54880" y="35478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760720" y="3337560"/>
            <a:ext cx="128016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0" y="3337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32320" y="33924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ROAS: 0.58x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28600" y="3977640"/>
            <a:ext cx="15544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39776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828800" y="4087368"/>
            <a:ext cx="2106778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81298" y="40507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0" y="4315968"/>
            <a:ext cx="109728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71800" y="4279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754880" y="40507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54880" y="4279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760720" y="4069080"/>
            <a:ext cx="12801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0" y="40690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132320" y="41239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ROAS: 0.25x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— SCENARIO PROJECTIONS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1168" y="594360"/>
            <a:ext cx="2029968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594360"/>
            <a:ext cx="2029968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59436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6888" y="118872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1.56 Cr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46888" y="1719072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048" y="2011680"/>
            <a:ext cx="1664208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" y="210312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" y="2496312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6888" y="27889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62.6L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" y="3154680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Margin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3401568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 to current allocation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14016" y="594360"/>
            <a:ext cx="2029968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14016" y="594360"/>
            <a:ext cx="2029968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9736" y="59436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59736" y="118872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1.82 Cr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459736" y="1719072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96896" y="2011680"/>
            <a:ext cx="1664208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9736" y="210312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459736" y="2496312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59736" y="27889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76.0L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59736" y="3154680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Margin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487168" y="3401568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diminishing returns from Email/Organic scaling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26864" y="594360"/>
            <a:ext cx="2029968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26864" y="594360"/>
            <a:ext cx="2029968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72584" y="59436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72584" y="118872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2.27 Cr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672584" y="1719072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9744" y="2011680"/>
            <a:ext cx="1664208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72584" y="210312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672584" y="2496312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72584" y="27889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95.1L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72584" y="3154680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Margin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00016" y="3401568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ROAS with conservative diminishing returns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39712" y="594360"/>
            <a:ext cx="2029968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39712" y="594360"/>
            <a:ext cx="2029968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85432" y="59436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85432" y="118872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2.73 Cr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885432" y="1719072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022592" y="2011680"/>
            <a:ext cx="1664208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85432" y="210312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+75%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885432" y="2496312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85432" y="27889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1.14 Cr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885432" y="3154680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Margin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912864" y="3401568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creative lifts Email &amp; Organic above historical ROAS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7432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Revenue Gain vs Baseline</a:t>
            </a:r>
            <a:endParaRPr lang="en-US" sz="1200" dirty="0"/>
          </a:p>
        </p:txBody>
      </p:sp>
      <p:graphicFrame>
        <p:nvGraphicFramePr>
          <p:cNvPr id="49" name="Chart 0"/>
          <p:cNvGraphicFramePr/>
          <p:nvPr/>
        </p:nvGraphicFramePr>
        <p:xfrm>
          <a:off x="182880" y="4297680"/>
          <a:ext cx="8778240" cy="73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PRIORITISED NEXT STEPS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40080"/>
            <a:ext cx="6400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3232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13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86968" y="713232"/>
            <a:ext cx="10058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7132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65960" y="7132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86968" y="10058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Experiment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13258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Paid Social in one city tier for 4 weeks to measure true incrementality before full reallocation.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05740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057400"/>
            <a:ext cx="6400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30552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6968" y="2130552"/>
            <a:ext cx="10058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21305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65960" y="21305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86968" y="24231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Email (5.1% → 20%)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" y="27432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Email to 20% of budget. Track CVR and unsubscribe rates weekly. If CVR holds above 2.0%, scale toward 25%.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347472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474720"/>
            <a:ext cx="6400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547872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6968" y="3547872"/>
            <a:ext cx="10058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3547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65960" y="35478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86968" y="38404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Targeting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" y="41605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Email and Organic campaigns toward Fashion (42%) and Beauty (41.6%) rather than Books (38.7%).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64008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640080"/>
            <a:ext cx="64008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713232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713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67528" y="713232"/>
            <a:ext cx="10058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67528" y="7132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46520" y="7132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67528" y="10058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Search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67528" y="13258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budget from C004 (weakest) toward C002 and C007 (best ROAS within Search).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205740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2057400"/>
            <a:ext cx="64008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2130552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367528" y="2130552"/>
            <a:ext cx="10058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67528" y="21305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46520" y="21305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67528" y="24231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Multi-Touch Attribution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67528" y="27432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Last-touch under-credits upper-funnel channels. Implement a time-decay model for fairer Paid Social assist view.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347472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3474720"/>
            <a:ext cx="64008" cy="12801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3547872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367528" y="3547872"/>
            <a:ext cx="100584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67528" y="3547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446520" y="35478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367528" y="38404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Lag-Effect Regression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67528" y="41605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1–3 day lagged spend features to capture delayed revenue impact and improve future budget projection accuracy.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LIMITATIONS &amp; FOLLOW-UP EXPERIMENTS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Limitations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822960"/>
          </a:xfrm>
          <a:prstGeom prst="rect">
            <a:avLst/>
          </a:prstGeom>
          <a:solidFill>
            <a:srgbClr val="C0392B">
              <a:alpha val="6000"/>
            </a:srgbClr>
          </a:solidFill>
          <a:ln w="12700">
            <a:solidFill>
              <a:srgbClr val="C0392B">
                <a:alpha val="2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Last-Touch Attribution Bias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Upper-funnel channels (Paid Social, Display) are likely under-credited. Multi-touch attribution needed for full picture.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4114800" cy="822960"/>
          </a:xfrm>
          <a:prstGeom prst="rect">
            <a:avLst/>
          </a:prstGeom>
          <a:solidFill>
            <a:srgbClr val="C0392B">
              <a:alpha val="6000"/>
            </a:srgbClr>
          </a:solidFill>
          <a:ln w="12700">
            <a:solidFill>
              <a:srgbClr val="C0392B">
                <a:alpha val="2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6596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Multicollinearity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Organic have low spend share (&lt;6%), making OLS coefficients unreliable. Attribution is more appropriate for their ranking.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114800" cy="822960"/>
          </a:xfrm>
          <a:prstGeom prst="rect">
            <a:avLst/>
          </a:prstGeom>
          <a:solidFill>
            <a:srgbClr val="C0392B">
              <a:alpha val="6000"/>
            </a:srgbClr>
          </a:solidFill>
          <a:ln w="12700">
            <a:solidFill>
              <a:srgbClr val="C0392B">
                <a:alpha val="2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2608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Email 4x and Organic 6x assumes ROAS holds. Discounted 30% and 50% respectively in projections.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886200"/>
            <a:ext cx="4114800" cy="822960"/>
          </a:xfrm>
          <a:prstGeom prst="rect">
            <a:avLst/>
          </a:prstGeom>
          <a:solidFill>
            <a:srgbClr val="C0392B">
              <a:alpha val="6000"/>
            </a:srgbClr>
          </a:solidFill>
          <a:ln w="12700">
            <a:solidFill>
              <a:srgbClr val="C0392B">
                <a:alpha val="2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88620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Stability Constraints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206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channel reduced below 50% of current spend (algorithm stability) or increased above 3x (scalability ceiling).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5943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Experiments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114800" cy="822960"/>
          </a:xfrm>
          <a:prstGeom prst="rect">
            <a:avLst/>
          </a:prstGeom>
          <a:solidFill>
            <a:srgbClr val="1A7A4A">
              <a:alpha val="6000"/>
            </a:srgbClr>
          </a:solidFill>
          <a:ln w="12700">
            <a:solidFill>
              <a:srgbClr val="1A7A4A">
                <a:alpha val="2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005840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Test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1325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Paid Social in one city tier - measure revenue delta vs control.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965960"/>
            <a:ext cx="4114800" cy="822960"/>
          </a:xfrm>
          <a:prstGeom prst="rect">
            <a:avLst/>
          </a:prstGeom>
          <a:solidFill>
            <a:srgbClr val="1A7A4A">
              <a:alpha val="6000"/>
            </a:srgbClr>
          </a:solidFill>
          <a:ln w="12700">
            <a:solidFill>
              <a:srgbClr val="1A7A4A">
                <a:alpha val="2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965960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Creative A/B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creatives every 2 weeks - track CVR fatigue as budget scales.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4114800" cy="822960"/>
          </a:xfrm>
          <a:prstGeom prst="rect">
            <a:avLst/>
          </a:prstGeom>
          <a:solidFill>
            <a:srgbClr val="1A7A4A">
              <a:alpha val="6000"/>
            </a:srgbClr>
          </a:solidFill>
          <a:ln w="12700">
            <a:solidFill>
              <a:srgbClr val="1A7A4A">
                <a:alpha val="2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926080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Targeting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&amp; Beauty email campaigns vs current mix - measure margin uplift.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886200"/>
            <a:ext cx="4114800" cy="822960"/>
          </a:xfrm>
          <a:prstGeom prst="rect">
            <a:avLst/>
          </a:prstGeom>
          <a:solidFill>
            <a:srgbClr val="1A7A4A">
              <a:alpha val="6000"/>
            </a:srgbClr>
          </a:solidFill>
          <a:ln w="12700">
            <a:solidFill>
              <a:srgbClr val="1A7A4A">
                <a:alpha val="2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886200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Multi-Touch Model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4206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Time-decay attribution model to quantify Paid Social assist value.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Reallocating budget from Paid Social (38.4%→20%) toward Email (5.1%→20%) and Organic (1.3%→8%) </a:t>
            </a:r>
            <a:r>
              <a:rPr lang="en-US" sz="15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generate Rs 7.12M in incremental revenue (+46%)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base case, with a best-case upside of Rs 11.67M (+75%).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6800" y="2423160"/>
            <a:ext cx="228600" cy="22860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0440" y="23957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Margin ROAS = 0.59x - every Rs 1 spent returns Rs 0.59 in contribution margin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9600" y="2898648"/>
            <a:ext cx="228600" cy="22860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9240" y="287121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(5.15x) and Email (2.18x) are chronically underfunded at 6.4% combined budget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5200" y="3374136"/>
            <a:ext cx="228600" cy="22860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640" y="334670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is loss-making: Margin ROAS 0.25x — Rs 28.6M allocated over 7 months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5200" y="3849624"/>
            <a:ext cx="228600" cy="22860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640" y="38149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users drive 99.6% of revenue — retention is more efficient than acquisition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8000" y="4325112"/>
            <a:ext cx="228600" cy="22860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2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and Beauty at 42.0% and 41.6% margins are the highest-value categories to target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27432"/>
          </a:xfrm>
          <a:prstGeom prst="rect">
            <a:avLst/>
          </a:prstGeom>
          <a:solidFill>
            <a:srgbClr val="14919B">
              <a:alpha val="53000"/>
            </a:srgbClr>
          </a:solidFill>
          <a:ln w="12700">
            <a:solidFill>
              <a:srgbClr val="14919B">
                <a:alpha val="53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from dataset analysis using last-touch attribution and OLS regression. Prepared as part of Marketing Analytics Capstone Project.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1365</Words>
  <Application>Microsoft Office PowerPoint</Application>
  <PresentationFormat>On-screen Show (16:9)</PresentationFormat>
  <Paragraphs>324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ROI &amp; Budget Reallocation</dc:title>
  <dc:subject>PptxGenJS Presentation</dc:subject>
  <dc:creator>PptxGenJS</dc:creator>
  <cp:lastModifiedBy>sarbani karmakar</cp:lastModifiedBy>
  <cp:revision>2</cp:revision>
  <dcterms:created xsi:type="dcterms:W3CDTF">2026-03-09T15:28:03Z</dcterms:created>
  <dcterms:modified xsi:type="dcterms:W3CDTF">2026-03-09T16:16:01Z</dcterms:modified>
</cp:coreProperties>
</file>